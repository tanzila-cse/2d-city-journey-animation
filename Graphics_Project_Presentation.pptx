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8" r:id="rId3"/>
    <p:sldId id="259" r:id="rId4"/>
    <p:sldId id="263" r:id="rId5"/>
    <p:sldId id="264" r:id="rId6"/>
    <p:sldId id="261" r:id="rId7"/>
    <p:sldId id="266" r:id="rId8"/>
    <p:sldId id="260" r:id="rId9"/>
    <p:sldId id="265" r:id="rId10"/>
    <p:sldId id="267" r:id="rId11"/>
    <p:sldId id="268" r:id="rId12"/>
    <p:sldId id="269" r:id="rId13"/>
    <p:sldId id="262" r:id="rId14"/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7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979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497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109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92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252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573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535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311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722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336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087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174993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8738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350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360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5570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853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6194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2492477"/>
            <a:ext cx="6620968" cy="1091381"/>
          </a:xfrm>
        </p:spPr>
        <p:txBody>
          <a:bodyPr/>
          <a:lstStyle/>
          <a:p>
            <a:r>
              <a:rPr lang="en-US" dirty="0"/>
              <a:t>2D Animated Journey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2653612"/>
            <a:ext cx="6620968" cy="3983162"/>
          </a:xfrm>
        </p:spPr>
        <p:txBody>
          <a:bodyPr>
            <a:noAutofit/>
          </a:bodyPr>
          <a:lstStyle/>
          <a:p>
            <a:r>
              <a:rPr lang="en-US" sz="1600" b="1" dirty="0" err="1">
                <a:solidFill>
                  <a:schemeClr val="tx2"/>
                </a:solidFill>
              </a:rPr>
              <a:t>Course:Computer</a:t>
            </a:r>
            <a:r>
              <a:rPr lang="en-US" sz="1600" b="1" dirty="0">
                <a:solidFill>
                  <a:schemeClr val="tx2"/>
                </a:solidFill>
              </a:rPr>
              <a:t> Graphics Lab</a:t>
            </a:r>
          </a:p>
          <a:p>
            <a:r>
              <a:rPr lang="en-US" sz="1600" b="1" dirty="0">
                <a:solidFill>
                  <a:schemeClr val="tx2"/>
                </a:solidFill>
              </a:rPr>
              <a:t>Course </a:t>
            </a:r>
            <a:r>
              <a:rPr lang="en-US" sz="1600" b="1" dirty="0" err="1">
                <a:solidFill>
                  <a:schemeClr val="tx2"/>
                </a:solidFill>
              </a:rPr>
              <a:t>Code:CSE</a:t>
            </a:r>
            <a:r>
              <a:rPr lang="en-US" sz="1600" b="1" dirty="0">
                <a:solidFill>
                  <a:schemeClr val="tx2"/>
                </a:solidFill>
              </a:rPr>
              <a:t> 435L</a:t>
            </a:r>
          </a:p>
          <a:p>
            <a:endParaRPr lang="en-US" sz="1600" b="1" dirty="0">
              <a:solidFill>
                <a:schemeClr val="tx2"/>
              </a:solidFill>
            </a:endParaRPr>
          </a:p>
          <a:p>
            <a:r>
              <a:rPr lang="en-US" sz="1600" b="1" dirty="0">
                <a:solidFill>
                  <a:schemeClr val="tx2"/>
                </a:solidFill>
              </a:rPr>
              <a:t>Submitted by: </a:t>
            </a:r>
          </a:p>
          <a:p>
            <a:r>
              <a:rPr lang="en-US" sz="1600" b="1" dirty="0">
                <a:solidFill>
                  <a:schemeClr val="tx2"/>
                </a:solidFill>
              </a:rPr>
              <a:t>Ummay Tanzila </a:t>
            </a:r>
            <a:r>
              <a:rPr lang="en-US" sz="1600" b="1" dirty="0" err="1">
                <a:solidFill>
                  <a:schemeClr val="tx2"/>
                </a:solidFill>
              </a:rPr>
              <a:t>Alaam</a:t>
            </a:r>
            <a:endParaRPr lang="en-US" sz="1600" b="1" dirty="0">
              <a:solidFill>
                <a:schemeClr val="tx2"/>
              </a:solidFill>
            </a:endParaRPr>
          </a:p>
          <a:p>
            <a:r>
              <a:rPr lang="en-US" sz="1600" b="1" dirty="0">
                <a:solidFill>
                  <a:schemeClr val="tx2"/>
                </a:solidFill>
              </a:rPr>
              <a:t>ID: 22302003</a:t>
            </a:r>
          </a:p>
          <a:p>
            <a:endParaRPr lang="en-US" sz="1600" b="1" dirty="0">
              <a:solidFill>
                <a:schemeClr val="tx2"/>
              </a:solidFill>
            </a:endParaRPr>
          </a:p>
          <a:p>
            <a:r>
              <a:rPr lang="en-US" sz="1600" b="1" dirty="0">
                <a:solidFill>
                  <a:schemeClr val="tx2"/>
                </a:solidFill>
              </a:rPr>
              <a:t>Submitted to: </a:t>
            </a:r>
          </a:p>
          <a:p>
            <a:r>
              <a:rPr lang="en-US" sz="1600" b="1" dirty="0">
                <a:solidFill>
                  <a:schemeClr val="tx2"/>
                </a:solidFill>
              </a:rPr>
              <a:t>Md. Habibur Rahman</a:t>
            </a:r>
          </a:p>
          <a:p>
            <a:endParaRPr lang="en-US" sz="1600" b="1" dirty="0">
              <a:solidFill>
                <a:schemeClr val="tx2"/>
              </a:solidFill>
            </a:endParaRPr>
          </a:p>
          <a:p>
            <a:r>
              <a:rPr lang="en-US" sz="1600" b="1" dirty="0">
                <a:solidFill>
                  <a:schemeClr val="tx2"/>
                </a:solidFill>
              </a:rPr>
              <a:t>Date: 18th August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573" y="1331259"/>
            <a:ext cx="6711654" cy="4195481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chemeClr val="tx2"/>
                </a:solidFill>
              </a:rPr>
              <a:t>Overview: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2D animations can create realistic environments.</a:t>
            </a:r>
          </a:p>
          <a:p>
            <a:r>
              <a:rPr lang="en-US" sz="2400" b="1" dirty="0">
                <a:solidFill>
                  <a:schemeClr val="tx2"/>
                </a:solidFill>
              </a:rPr>
              <a:t>Problem Statement: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Most campus animations are generic and not location specific and lack emotional connection</a:t>
            </a:r>
          </a:p>
          <a:p>
            <a:r>
              <a:rPr sz="2400" b="1" dirty="0">
                <a:solidFill>
                  <a:schemeClr val="tx2"/>
                </a:solidFill>
              </a:rPr>
              <a:t>Objective: </a:t>
            </a:r>
            <a:endParaRPr lang="en-US" sz="24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sz="2400" b="1" dirty="0">
                <a:solidFill>
                  <a:schemeClr val="tx2"/>
                </a:solidFill>
              </a:rPr>
              <a:t>Create location-specific, story-driven 2D animation with real CIU landmarks.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747685"/>
            <a:ext cx="7055380" cy="1400530"/>
          </a:xfrm>
        </p:spPr>
        <p:txBody>
          <a:bodyPr/>
          <a:lstStyle/>
          <a:p>
            <a:r>
              <a:rPr lang="en-US" dirty="0"/>
              <a:t>Literature Review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573" y="1613082"/>
            <a:ext cx="6711654" cy="4195481"/>
          </a:xfrm>
        </p:spPr>
        <p:txBody>
          <a:bodyPr>
            <a:normAutofit fontScale="92500" lnSpcReduction="10000"/>
          </a:bodyPr>
          <a:lstStyle/>
          <a:p>
            <a:r>
              <a:rPr lang="en-US" sz="2600" b="1" dirty="0">
                <a:solidFill>
                  <a:schemeClr val="tx2"/>
                </a:solidFill>
              </a:rPr>
              <a:t>Existing works</a:t>
            </a:r>
            <a:r>
              <a:rPr sz="2600" b="1" dirty="0">
                <a:solidFill>
                  <a:schemeClr val="tx2"/>
                </a:solidFill>
              </a:rPr>
              <a:t>:</a:t>
            </a:r>
            <a:endParaRPr lang="en-US" sz="26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             Campus tours with visual  orientation</a:t>
            </a:r>
            <a:endParaRPr sz="2600" b="1" dirty="0">
              <a:solidFill>
                <a:schemeClr val="tx2"/>
              </a:solidFill>
            </a:endParaRPr>
          </a:p>
          <a:p>
            <a:r>
              <a:rPr lang="en-US" sz="2600" b="1" dirty="0">
                <a:solidFill>
                  <a:schemeClr val="tx2"/>
                </a:solidFill>
              </a:rPr>
              <a:t>Scene Modeling:</a:t>
            </a:r>
          </a:p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             </a:t>
            </a:r>
            <a:r>
              <a:rPr sz="2600" b="1" dirty="0">
                <a:solidFill>
                  <a:schemeClr val="tx2"/>
                </a:solidFill>
              </a:rPr>
              <a:t>• </a:t>
            </a:r>
            <a:r>
              <a:rPr lang="en-US" sz="2600" b="1" dirty="0">
                <a:solidFill>
                  <a:schemeClr val="tx2"/>
                </a:solidFill>
              </a:rPr>
              <a:t>Texture mapping           </a:t>
            </a:r>
          </a:p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             </a:t>
            </a:r>
            <a:r>
              <a:rPr sz="2600" b="1" dirty="0">
                <a:solidFill>
                  <a:schemeClr val="tx2"/>
                </a:solidFill>
              </a:rPr>
              <a:t>• </a:t>
            </a:r>
            <a:r>
              <a:rPr lang="en-US" sz="2600" b="1" dirty="0">
                <a:solidFill>
                  <a:schemeClr val="tx2"/>
                </a:solidFill>
              </a:rPr>
              <a:t>Keyframe animation</a:t>
            </a:r>
            <a:endParaRPr sz="2600" b="1" dirty="0">
              <a:solidFill>
                <a:schemeClr val="tx2"/>
              </a:solidFill>
            </a:endParaRPr>
          </a:p>
          <a:p>
            <a:r>
              <a:rPr lang="en-US" sz="2600" b="1" dirty="0">
                <a:solidFill>
                  <a:schemeClr val="tx2"/>
                </a:solidFill>
              </a:rPr>
              <a:t>Our Project Builds on</a:t>
            </a:r>
            <a:r>
              <a:rPr sz="2600" b="1" dirty="0">
                <a:solidFill>
                  <a:schemeClr val="tx2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             </a:t>
            </a:r>
            <a:r>
              <a:rPr sz="2600" b="1" dirty="0">
                <a:solidFill>
                  <a:schemeClr val="tx2"/>
                </a:solidFill>
              </a:rPr>
              <a:t>• </a:t>
            </a:r>
            <a:r>
              <a:rPr lang="en-US" sz="2600" b="1" dirty="0">
                <a:solidFill>
                  <a:schemeClr val="tx2"/>
                </a:solidFill>
              </a:rPr>
              <a:t>OpenGL-real time rendering</a:t>
            </a:r>
            <a:endParaRPr sz="26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             • Blender modeling</a:t>
            </a:r>
            <a:endParaRPr sz="26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             </a:t>
            </a:r>
            <a:r>
              <a:rPr sz="2600" b="1" dirty="0">
                <a:solidFill>
                  <a:schemeClr val="tx2"/>
                </a:solidFill>
              </a:rPr>
              <a:t>• </a:t>
            </a:r>
            <a:r>
              <a:rPr lang="en-US" sz="2600" b="1" dirty="0">
                <a:solidFill>
                  <a:schemeClr val="tx2"/>
                </a:solidFill>
              </a:rPr>
              <a:t>Hierarchical animation</a:t>
            </a:r>
            <a:endParaRPr sz="26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8F5E3-11BC-27B7-9896-2D406C428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82BF3-1AB7-9817-017B-F699F1E7B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478" y="609594"/>
            <a:ext cx="7055380" cy="1400530"/>
          </a:xfrm>
        </p:spPr>
        <p:txBody>
          <a:bodyPr/>
          <a:lstStyle/>
          <a:p>
            <a:r>
              <a:rPr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62142-75AD-9248-5780-D40678AE7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341" y="1474839"/>
            <a:ext cx="6711654" cy="477356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Design Steps: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           • Modeling of CIU &amp; </a:t>
            </a:r>
            <a:r>
              <a:rPr lang="en-US" b="1" dirty="0" err="1">
                <a:solidFill>
                  <a:schemeClr val="tx2"/>
                </a:solidFill>
              </a:rPr>
              <a:t>Jamalkhan</a:t>
            </a:r>
            <a:r>
              <a:rPr lang="en-US" b="1" dirty="0">
                <a:solidFill>
                  <a:schemeClr val="tx2"/>
                </a:solidFill>
              </a:rPr>
              <a:t> landmarks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           • Character rigging &amp; animation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           • Cinematic camera movement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           • Texturing &amp; Lighting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           • Rendering with optimization</a:t>
            </a:r>
          </a:p>
          <a:p>
            <a:r>
              <a:rPr b="1" dirty="0">
                <a:solidFill>
                  <a:schemeClr val="tx2"/>
                </a:solidFill>
              </a:rPr>
              <a:t>Tools &amp; Technologies: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           </a:t>
            </a:r>
            <a:r>
              <a:rPr b="1" dirty="0">
                <a:solidFill>
                  <a:schemeClr val="tx2"/>
                </a:solidFill>
              </a:rPr>
              <a:t>• C++ with OpenGL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           </a:t>
            </a:r>
            <a:r>
              <a:rPr b="1" dirty="0">
                <a:solidFill>
                  <a:schemeClr val="tx2"/>
                </a:solidFill>
              </a:rPr>
              <a:t>• Code::Blocks IDE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           </a:t>
            </a:r>
            <a:r>
              <a:rPr b="1" dirty="0">
                <a:solidFill>
                  <a:schemeClr val="tx2"/>
                </a:solidFill>
              </a:rPr>
              <a:t>• Windows 10</a:t>
            </a:r>
          </a:p>
          <a:p>
            <a:endParaRPr b="1" dirty="0">
              <a:solidFill>
                <a:schemeClr val="tx2"/>
              </a:solidFill>
            </a:endParaRPr>
          </a:p>
          <a:p>
            <a:endParaRPr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3238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DC62B-EA14-6183-6F97-FCE11AD25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diagram of workflow diagram&#10;&#10;AI-generated content may be incorrect.">
            <a:extLst>
              <a:ext uri="{FF2B5EF4-FFF2-40B4-BE49-F238E27FC236}">
                <a16:creationId xmlns:a16="http://schemas.microsoft.com/office/drawing/2014/main" id="{1BB313E4-5F60-418F-29BA-2E4F26A561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8142" y="1120877"/>
            <a:ext cx="7197213" cy="4144298"/>
          </a:xfrm>
        </p:spPr>
      </p:pic>
    </p:spTree>
    <p:extLst>
      <p:ext uri="{BB962C8B-B14F-4D97-AF65-F5344CB8AC3E}">
        <p14:creationId xmlns:p14="http://schemas.microsoft.com/office/powerpoint/2010/main" val="3201657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022121"/>
          </a:xfrm>
        </p:spPr>
        <p:txBody>
          <a:bodyPr/>
          <a:lstStyle/>
          <a:p>
            <a:r>
              <a:rPr lang="en-US" dirty="0"/>
              <a:t>Implementation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710" y="1331259"/>
            <a:ext cx="6711654" cy="4195481"/>
          </a:xfrm>
        </p:spPr>
        <p:txBody>
          <a:bodyPr/>
          <a:lstStyle/>
          <a:p>
            <a:r>
              <a:rPr lang="en-US" sz="2400" b="1" dirty="0">
                <a:solidFill>
                  <a:schemeClr val="tx2"/>
                </a:solidFill>
              </a:rPr>
              <a:t>Model blueprints:</a:t>
            </a:r>
          </a:p>
          <a:p>
            <a:pPr marL="0" indent="0">
              <a:buNone/>
            </a:pPr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7" name="Picture 6" descr="A table and chairs in a library">
            <a:extLst>
              <a:ext uri="{FF2B5EF4-FFF2-40B4-BE49-F238E27FC236}">
                <a16:creationId xmlns:a16="http://schemas.microsoft.com/office/drawing/2014/main" id="{D3C05F46-595E-AF6C-BB46-ACE9DD2DD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6104" y="3898028"/>
            <a:ext cx="2264807" cy="2031144"/>
          </a:xfrm>
          <a:prstGeom prst="rect">
            <a:avLst/>
          </a:prstGeom>
        </p:spPr>
      </p:pic>
      <p:pic>
        <p:nvPicPr>
          <p:cNvPr id="9" name="Picture 8" descr="A group of people sitting at computers">
            <a:extLst>
              <a:ext uri="{FF2B5EF4-FFF2-40B4-BE49-F238E27FC236}">
                <a16:creationId xmlns:a16="http://schemas.microsoft.com/office/drawing/2014/main" id="{003CFD35-0388-F1AF-47B9-928883A943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96" y="3918732"/>
            <a:ext cx="2264807" cy="1911106"/>
          </a:xfrm>
          <a:prstGeom prst="rect">
            <a:avLst/>
          </a:prstGeom>
        </p:spPr>
      </p:pic>
      <p:pic>
        <p:nvPicPr>
          <p:cNvPr id="11" name="Picture 10" descr="A room with many chairs">
            <a:extLst>
              <a:ext uri="{FF2B5EF4-FFF2-40B4-BE49-F238E27FC236}">
                <a16:creationId xmlns:a16="http://schemas.microsoft.com/office/drawing/2014/main" id="{286FB7BA-D092-361A-7B72-CB4ACE75C1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7500" y="3887517"/>
            <a:ext cx="2739928" cy="2041655"/>
          </a:xfrm>
          <a:prstGeom prst="rect">
            <a:avLst/>
          </a:prstGeom>
        </p:spPr>
      </p:pic>
      <p:pic>
        <p:nvPicPr>
          <p:cNvPr id="13" name="Picture 12" descr="A circular road with signs on it">
            <a:extLst>
              <a:ext uri="{FF2B5EF4-FFF2-40B4-BE49-F238E27FC236}">
                <a16:creationId xmlns:a16="http://schemas.microsoft.com/office/drawing/2014/main" id="{1AA18C11-C135-4E68-9623-CC15D23607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710" y="1845559"/>
            <a:ext cx="2228993" cy="1733669"/>
          </a:xfrm>
          <a:prstGeom prst="rect">
            <a:avLst/>
          </a:prstGeom>
        </p:spPr>
      </p:pic>
      <p:pic>
        <p:nvPicPr>
          <p:cNvPr id="17" name="Picture 16" descr="A street with cars and trees">
            <a:extLst>
              <a:ext uri="{FF2B5EF4-FFF2-40B4-BE49-F238E27FC236}">
                <a16:creationId xmlns:a16="http://schemas.microsoft.com/office/drawing/2014/main" id="{29AB2E5C-D396-879A-9D0F-A35B247D0B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6104" y="1814343"/>
            <a:ext cx="2228993" cy="1733669"/>
          </a:xfrm>
          <a:prstGeom prst="rect">
            <a:avLst/>
          </a:prstGeom>
        </p:spPr>
      </p:pic>
      <p:pic>
        <p:nvPicPr>
          <p:cNvPr id="19" name="Picture 18" descr="A person walking down a dirt road">
            <a:extLst>
              <a:ext uri="{FF2B5EF4-FFF2-40B4-BE49-F238E27FC236}">
                <a16:creationId xmlns:a16="http://schemas.microsoft.com/office/drawing/2014/main" id="{F0B76C4D-60D3-5F71-5271-508C5E09B8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7499" y="1814342"/>
            <a:ext cx="2739928" cy="17648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877A4-F580-9A7A-A6AC-74BC4AB86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706" y="666578"/>
            <a:ext cx="6711654" cy="5232776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2"/>
                </a:solidFill>
              </a:rPr>
              <a:t>Code Samples: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       // Church - made more visible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       </a:t>
            </a:r>
            <a:r>
              <a:rPr lang="en-US" b="1" dirty="0" err="1">
                <a:solidFill>
                  <a:schemeClr val="tx2"/>
                </a:solidFill>
              </a:rPr>
              <a:t>drawChurch</a:t>
            </a:r>
            <a:r>
              <a:rPr lang="en-US" b="1" dirty="0">
                <a:solidFill>
                  <a:schemeClr val="tx2"/>
                </a:solidFill>
              </a:rPr>
              <a:t>(450, 40, 0.8f);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       // Shops on sidewalks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       </a:t>
            </a:r>
            <a:r>
              <a:rPr lang="en-US" b="1" dirty="0" err="1">
                <a:solidFill>
                  <a:schemeClr val="tx2"/>
                </a:solidFill>
              </a:rPr>
              <a:t>drawShop</a:t>
            </a:r>
            <a:r>
              <a:rPr lang="en-US" b="1" dirty="0">
                <a:solidFill>
                  <a:schemeClr val="tx2"/>
                </a:solidFill>
              </a:rPr>
              <a:t>(480, 500, 70, 55, Color(0.7f, 0.9f, 0.6f), "general");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       </a:t>
            </a:r>
            <a:r>
              <a:rPr lang="en-US" b="1" dirty="0" err="1">
                <a:solidFill>
                  <a:schemeClr val="tx2"/>
                </a:solidFill>
              </a:rPr>
              <a:t>drawShop</a:t>
            </a:r>
            <a:r>
              <a:rPr lang="en-US" b="1" dirty="0">
                <a:solidFill>
                  <a:schemeClr val="tx2"/>
                </a:solidFill>
              </a:rPr>
              <a:t>(680, 120, 75, 65, Color(0.8f, 0.6f, 0.8f), "general");</a:t>
            </a:r>
          </a:p>
          <a:p>
            <a:pPr marL="0" indent="0">
              <a:buNone/>
            </a:pPr>
            <a:endParaRPr lang="en-US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F79C5F6-A58F-133D-43D6-D9BBBBE98269}"/>
              </a:ext>
            </a:extLst>
          </p:cNvPr>
          <p:cNvSpPr txBox="1">
            <a:spLocks/>
          </p:cNvSpPr>
          <p:nvPr/>
        </p:nvSpPr>
        <p:spPr>
          <a:xfrm>
            <a:off x="768706" y="4176692"/>
            <a:ext cx="6711654" cy="3507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6" indent="-342906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62" indent="-285755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20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27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34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42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49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57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64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sz="2400" b="1" dirty="0">
                <a:solidFill>
                  <a:schemeClr val="tx2"/>
                </a:solidFill>
              </a:rPr>
              <a:t>My project implements: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       •Environment modeling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       •Character animation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       •Camera movements</a:t>
            </a:r>
          </a:p>
        </p:txBody>
      </p:sp>
    </p:spTree>
    <p:extLst>
      <p:ext uri="{BB962C8B-B14F-4D97-AF65-F5344CB8AC3E}">
        <p14:creationId xmlns:p14="http://schemas.microsoft.com/office/powerpoint/2010/main" val="3062258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</a:t>
            </a:r>
            <a:endParaRPr dirty="0"/>
          </a:p>
        </p:txBody>
      </p:sp>
      <p:pic>
        <p:nvPicPr>
          <p:cNvPr id="23" name="Content Placeholder 22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7FDF6DC9-58C5-58CF-BE65-44BED97663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2614" y="1322482"/>
            <a:ext cx="4137510" cy="2135784"/>
          </a:xfrm>
        </p:spPr>
      </p:pic>
      <p:pic>
        <p:nvPicPr>
          <p:cNvPr id="25" name="Picture 24" descr="A video game screen shot of a city&#10;&#10;AI-generated content may be incorrect.">
            <a:extLst>
              <a:ext uri="{FF2B5EF4-FFF2-40B4-BE49-F238E27FC236}">
                <a16:creationId xmlns:a16="http://schemas.microsoft.com/office/drawing/2014/main" id="{C8989FB1-6FF1-4759-5AF5-514CAC138B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7608" y="1322482"/>
            <a:ext cx="4080813" cy="2135784"/>
          </a:xfrm>
          <a:prstGeom prst="rect">
            <a:avLst/>
          </a:prstGeom>
        </p:spPr>
      </p:pic>
      <p:pic>
        <p:nvPicPr>
          <p:cNvPr id="27" name="Picture 26" descr="A video game with a cartoon of cars and buildings">
            <a:extLst>
              <a:ext uri="{FF2B5EF4-FFF2-40B4-BE49-F238E27FC236}">
                <a16:creationId xmlns:a16="http://schemas.microsoft.com/office/drawing/2014/main" id="{86D7A791-29BE-13B5-922C-E7CD1F5383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614" y="3815202"/>
            <a:ext cx="4137510" cy="2293244"/>
          </a:xfrm>
          <a:prstGeom prst="rect">
            <a:avLst/>
          </a:prstGeom>
        </p:spPr>
      </p:pic>
      <p:pic>
        <p:nvPicPr>
          <p:cNvPr id="29" name="Picture 28" descr="A video game screen with a person walking on the road">
            <a:extLst>
              <a:ext uri="{FF2B5EF4-FFF2-40B4-BE49-F238E27FC236}">
                <a16:creationId xmlns:a16="http://schemas.microsoft.com/office/drawing/2014/main" id="{71BA66A7-4F73-94F3-8194-5182D88C18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7607" y="3835741"/>
            <a:ext cx="4081659" cy="22932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302C1-1063-1162-B191-B3DFFA6F2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video game screen shot of a city">
            <a:extLst>
              <a:ext uri="{FF2B5EF4-FFF2-40B4-BE49-F238E27FC236}">
                <a16:creationId xmlns:a16="http://schemas.microsoft.com/office/drawing/2014/main" id="{8E0348E3-DCD5-A5B6-4CAD-5014BE688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750" y="4730887"/>
            <a:ext cx="3766500" cy="1933129"/>
          </a:xfrm>
          <a:prstGeom prst="rect">
            <a:avLst/>
          </a:prstGeom>
        </p:spPr>
      </p:pic>
      <p:pic>
        <p:nvPicPr>
          <p:cNvPr id="8" name="Picture 7" descr="A screenshot of a video game">
            <a:extLst>
              <a:ext uri="{FF2B5EF4-FFF2-40B4-BE49-F238E27FC236}">
                <a16:creationId xmlns:a16="http://schemas.microsoft.com/office/drawing/2014/main" id="{7ADD8291-E7D2-9A36-77E2-DE3F2D790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460" y="2653673"/>
            <a:ext cx="3653800" cy="1975309"/>
          </a:xfrm>
          <a:prstGeom prst="rect">
            <a:avLst/>
          </a:prstGeom>
        </p:spPr>
      </p:pic>
      <p:pic>
        <p:nvPicPr>
          <p:cNvPr id="10" name="Picture 9" descr="A group of people in a classroom">
            <a:extLst>
              <a:ext uri="{FF2B5EF4-FFF2-40B4-BE49-F238E27FC236}">
                <a16:creationId xmlns:a16="http://schemas.microsoft.com/office/drawing/2014/main" id="{0B83BA08-4EB7-3FD1-BA7C-A16EAFE2AB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821" y="2644409"/>
            <a:ext cx="3841620" cy="1975309"/>
          </a:xfrm>
          <a:prstGeom prst="rect">
            <a:avLst/>
          </a:prstGeom>
        </p:spPr>
      </p:pic>
      <p:pic>
        <p:nvPicPr>
          <p:cNvPr id="12" name="Picture 11" descr="A group of people sitting at desks and computers">
            <a:extLst>
              <a:ext uri="{FF2B5EF4-FFF2-40B4-BE49-F238E27FC236}">
                <a16:creationId xmlns:a16="http://schemas.microsoft.com/office/drawing/2014/main" id="{1C07B070-4E37-EDD6-0792-2C6B00A8A2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3460" y="340314"/>
            <a:ext cx="3653800" cy="2192925"/>
          </a:xfrm>
          <a:prstGeom prst="rect">
            <a:avLst/>
          </a:prstGeom>
        </p:spPr>
      </p:pic>
      <p:pic>
        <p:nvPicPr>
          <p:cNvPr id="14" name="Picture 13" descr="A group of people sitting at a table">
            <a:extLst>
              <a:ext uri="{FF2B5EF4-FFF2-40B4-BE49-F238E27FC236}">
                <a16:creationId xmlns:a16="http://schemas.microsoft.com/office/drawing/2014/main" id="{AC572AE4-DF10-DFA5-647D-9D668FFFFF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821" y="340315"/>
            <a:ext cx="3841620" cy="219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281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42E1B-C07E-4155-2D24-34A4F7603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FC539-B873-C7E9-D4CF-6073434B7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710" y="1453151"/>
            <a:ext cx="6711654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>
              <a:solidFill>
                <a:schemeClr val="tx2"/>
              </a:solidFill>
            </a:endParaRPr>
          </a:p>
          <a:p>
            <a:r>
              <a:rPr lang="en-US" sz="2400" b="1" dirty="0">
                <a:solidFill>
                  <a:schemeClr val="tx2"/>
                </a:solidFill>
              </a:rPr>
              <a:t>Visual quality produced realistic atmosphere.</a:t>
            </a:r>
          </a:p>
          <a:p>
            <a:r>
              <a:rPr lang="en-US" sz="2400" b="1" dirty="0">
                <a:solidFill>
                  <a:schemeClr val="tx2"/>
                </a:solidFill>
              </a:rPr>
              <a:t>Characters achieved natural motion after iterative refinements.</a:t>
            </a:r>
          </a:p>
          <a:p>
            <a:r>
              <a:rPr lang="en-US" sz="2400" b="1" dirty="0">
                <a:solidFill>
                  <a:schemeClr val="tx2"/>
                </a:solidFill>
              </a:rPr>
              <a:t>Scene transitions ensured fluid storytelling </a:t>
            </a:r>
          </a:p>
          <a:p>
            <a:r>
              <a:rPr lang="en-US" sz="2400" b="1" dirty="0">
                <a:solidFill>
                  <a:schemeClr val="tx2"/>
                </a:solidFill>
              </a:rPr>
              <a:t>System Performance was efficient and optimal</a:t>
            </a:r>
          </a:p>
        </p:txBody>
      </p:sp>
    </p:spTree>
    <p:extLst>
      <p:ext uri="{BB962C8B-B14F-4D97-AF65-F5344CB8AC3E}">
        <p14:creationId xmlns:p14="http://schemas.microsoft.com/office/powerpoint/2010/main" val="28965792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with blue bars&#10;&#10;AI-generated content may be incorrect.">
            <a:extLst>
              <a:ext uri="{FF2B5EF4-FFF2-40B4-BE49-F238E27FC236}">
                <a16:creationId xmlns:a16="http://schemas.microsoft.com/office/drawing/2014/main" id="{C037F6E4-E160-0B7E-4B69-11720BBEF3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3222" y="882987"/>
            <a:ext cx="7397555" cy="4898381"/>
          </a:xfrm>
        </p:spPr>
      </p:pic>
    </p:spTree>
    <p:extLst>
      <p:ext uri="{BB962C8B-B14F-4D97-AF65-F5344CB8AC3E}">
        <p14:creationId xmlns:p14="http://schemas.microsoft.com/office/powerpoint/2010/main" val="1189070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3B663-2E18-4E7C-D605-989B2F3CE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10" y="462984"/>
            <a:ext cx="7055380" cy="1400530"/>
          </a:xfrm>
        </p:spPr>
        <p:txBody>
          <a:bodyPr/>
          <a:lstStyle/>
          <a:p>
            <a:r>
              <a:rPr lang="en-US" dirty="0"/>
              <a:t>Challenges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F88A3-D9FD-6160-D496-FDF8C2DE6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573" y="1581982"/>
            <a:ext cx="6711654" cy="4195481"/>
          </a:xfrm>
        </p:spPr>
        <p:txBody>
          <a:bodyPr>
            <a:normAutofit/>
          </a:bodyPr>
          <a:lstStyle/>
          <a:p>
            <a:r>
              <a:rPr lang="en-US" sz="2400" b="1" dirty="0"/>
              <a:t>Designing location specific view</a:t>
            </a:r>
          </a:p>
          <a:p>
            <a:r>
              <a:rPr lang="en-US" sz="2400" b="1" dirty="0"/>
              <a:t>Realistic animations</a:t>
            </a:r>
          </a:p>
          <a:p>
            <a:r>
              <a:rPr lang="en-US" sz="2400" b="1" dirty="0"/>
              <a:t>Rendering elements in right co-ordinates</a:t>
            </a:r>
          </a:p>
          <a:p>
            <a:r>
              <a:rPr lang="en-US" sz="2400" b="1" dirty="0"/>
              <a:t>Camera placements</a:t>
            </a:r>
          </a:p>
          <a:p>
            <a:r>
              <a:rPr lang="en-US" sz="2400" b="1" dirty="0"/>
              <a:t>Iterative testing of animation cycles</a:t>
            </a:r>
          </a:p>
        </p:txBody>
      </p:sp>
    </p:spTree>
    <p:extLst>
      <p:ext uri="{BB962C8B-B14F-4D97-AF65-F5344CB8AC3E}">
        <p14:creationId xmlns:p14="http://schemas.microsoft.com/office/powerpoint/2010/main" val="4095666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573" y="1335163"/>
            <a:ext cx="6711654" cy="4195481"/>
          </a:xfrm>
        </p:spPr>
        <p:txBody>
          <a:bodyPr>
            <a:noAutofit/>
          </a:bodyPr>
          <a:lstStyle/>
          <a:p>
            <a:r>
              <a:rPr sz="2400" b="1" dirty="0"/>
              <a:t>Conclusion:</a:t>
            </a:r>
          </a:p>
          <a:p>
            <a:pPr marL="0" indent="0">
              <a:buNone/>
            </a:pPr>
            <a:r>
              <a:rPr lang="en-US" sz="2400" b="1" dirty="0"/>
              <a:t>      </a:t>
            </a:r>
            <a:r>
              <a:rPr sz="2400" b="1" dirty="0"/>
              <a:t> Achieved immersive 2D animated journey with realistic storytelling.</a:t>
            </a:r>
          </a:p>
          <a:p>
            <a:r>
              <a:rPr sz="2400" b="1" dirty="0"/>
              <a:t>Future Work:</a:t>
            </a:r>
          </a:p>
          <a:p>
            <a:pPr marL="0" indent="0">
              <a:buNone/>
            </a:pPr>
            <a:r>
              <a:rPr lang="en-US" sz="2400" b="1" dirty="0"/>
              <a:t>      </a:t>
            </a:r>
            <a:r>
              <a:rPr sz="2400" b="1" dirty="0"/>
              <a:t>• VR Integration for interactive campus tour</a:t>
            </a:r>
          </a:p>
          <a:p>
            <a:pPr marL="0" indent="0">
              <a:buNone/>
            </a:pPr>
            <a:r>
              <a:rPr lang="en-US" sz="2400" b="1" dirty="0"/>
              <a:t>      </a:t>
            </a:r>
            <a:r>
              <a:rPr sz="2400" b="1" dirty="0"/>
              <a:t>• 3D implementation</a:t>
            </a:r>
          </a:p>
          <a:p>
            <a:pPr marL="0" indent="0">
              <a:buNone/>
            </a:pPr>
            <a:r>
              <a:rPr lang="en-US" sz="2400" b="1" dirty="0"/>
              <a:t>      </a:t>
            </a:r>
            <a:r>
              <a:rPr sz="2400" b="1" dirty="0"/>
              <a:t>• User-driven navigation</a:t>
            </a:r>
          </a:p>
          <a:p>
            <a:pPr marL="0" indent="0">
              <a:buNone/>
            </a:pPr>
            <a:r>
              <a:rPr lang="en-US" sz="2400" b="1" dirty="0"/>
              <a:t>      </a:t>
            </a:r>
            <a:r>
              <a:rPr sz="2400" b="1" dirty="0"/>
              <a:t>• Weather &amp; time variations</a:t>
            </a:r>
          </a:p>
          <a:p>
            <a:pPr marL="0" indent="0">
              <a:buNone/>
            </a:pPr>
            <a:r>
              <a:rPr lang="en-US" sz="2400" b="1" dirty="0"/>
              <a:t>      </a:t>
            </a:r>
            <a:r>
              <a:rPr sz="2400" b="1" dirty="0"/>
              <a:t>• Multi-character interaction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89B32-FBE5-BDE2-7D19-9306E2E3D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D9FC8-F07F-224C-6232-B72332ABB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710" y="1331259"/>
            <a:ext cx="6711654" cy="4195481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chemeClr val="tx2"/>
                </a:solidFill>
              </a:rPr>
              <a:t>● Angel, E., &amp; Shreiner, D. (2019). </a:t>
            </a:r>
            <a:r>
              <a:rPr lang="en-US" sz="2400" b="1" i="1" dirty="0">
                <a:solidFill>
                  <a:schemeClr val="tx2"/>
                </a:solidFill>
              </a:rPr>
              <a:t>Interactive computer graphics</a:t>
            </a:r>
            <a:r>
              <a:rPr lang="en-US" sz="2400" b="1" dirty="0">
                <a:solidFill>
                  <a:schemeClr val="tx2"/>
                </a:solidFill>
              </a:rPr>
              <a:t>. Pearson. ● Feiner, S. K., &amp; Van Dam, A. (2006). </a:t>
            </a:r>
            <a:r>
              <a:rPr lang="en-US" sz="2400" b="1" i="1" dirty="0">
                <a:solidFill>
                  <a:schemeClr val="tx2"/>
                </a:solidFill>
              </a:rPr>
              <a:t>Schaum’s outline of computer graphics </a:t>
            </a:r>
            <a:r>
              <a:rPr lang="en-US" sz="2400" b="1" dirty="0">
                <a:solidFill>
                  <a:schemeClr val="tx2"/>
                </a:solidFill>
              </a:rPr>
              <a:t>(2nd ed.). McGraw-Hill Education. </a:t>
            </a:r>
          </a:p>
          <a:p>
            <a:r>
              <a:rPr lang="en-US" sz="2400" b="1" dirty="0">
                <a:solidFill>
                  <a:schemeClr val="tx2"/>
                </a:solidFill>
              </a:rPr>
              <a:t>● OpenGL. (n.d.). </a:t>
            </a:r>
            <a:r>
              <a:rPr lang="en-US" sz="2400" b="1" i="1" dirty="0">
                <a:solidFill>
                  <a:schemeClr val="tx2"/>
                </a:solidFill>
              </a:rPr>
              <a:t>OpenGL documentation</a:t>
            </a:r>
            <a:r>
              <a:rPr lang="en-US" sz="2400" b="1" dirty="0">
                <a:solidFill>
                  <a:schemeClr val="tx2"/>
                </a:solidFill>
              </a:rPr>
              <a:t>. </a:t>
            </a:r>
            <a:r>
              <a:rPr lang="en-US" sz="2400" b="1" u="sng" dirty="0">
                <a:solidFill>
                  <a:schemeClr val="tx2"/>
                </a:solidFill>
              </a:rPr>
              <a:t>https://www.opengl.org</a:t>
            </a:r>
            <a:r>
              <a:rPr lang="en-US" sz="2400" b="1" dirty="0">
                <a:solidFill>
                  <a:schemeClr val="tx2"/>
                </a:solidFill>
              </a:rPr>
              <a:t> </a:t>
            </a:r>
          </a:p>
          <a:p>
            <a:r>
              <a:rPr lang="en-US" sz="2400" b="1" dirty="0">
                <a:solidFill>
                  <a:schemeClr val="tx2"/>
                </a:solidFill>
              </a:rPr>
              <a:t>● Blender Foundation. (n.d.). </a:t>
            </a:r>
            <a:r>
              <a:rPr lang="en-US" sz="2400" b="1" i="1" dirty="0">
                <a:solidFill>
                  <a:schemeClr val="tx2"/>
                </a:solidFill>
              </a:rPr>
              <a:t>Blender manual</a:t>
            </a:r>
            <a:r>
              <a:rPr lang="en-US" sz="2400" b="1" dirty="0">
                <a:solidFill>
                  <a:schemeClr val="tx2"/>
                </a:solidFill>
              </a:rPr>
              <a:t>. </a:t>
            </a:r>
            <a:r>
              <a:rPr lang="en-US" sz="2400" b="1" u="sng" dirty="0">
                <a:solidFill>
                  <a:schemeClr val="tx2"/>
                </a:solidFill>
              </a:rPr>
              <a:t>https://docs.blender.org</a:t>
            </a:r>
            <a:r>
              <a:rPr lang="en-US" sz="2400" b="1" dirty="0">
                <a:solidFill>
                  <a:schemeClr val="tx2"/>
                </a:solidFill>
              </a:rPr>
              <a:t> ● OpenAI. (n.d.). </a:t>
            </a:r>
            <a:r>
              <a:rPr lang="en-US" sz="2400" b="1" i="1" dirty="0">
                <a:solidFill>
                  <a:schemeClr val="tx2"/>
                </a:solidFill>
              </a:rPr>
              <a:t>ChatGPT</a:t>
            </a:r>
            <a:r>
              <a:rPr lang="en-US" sz="2400" b="1" dirty="0">
                <a:solidFill>
                  <a:schemeClr val="tx2"/>
                </a:solidFill>
              </a:rPr>
              <a:t>. </a:t>
            </a:r>
            <a:r>
              <a:rPr lang="en-US" sz="2400" b="1" u="sng" dirty="0">
                <a:solidFill>
                  <a:schemeClr val="tx2"/>
                </a:solidFill>
              </a:rPr>
              <a:t>https://chatgpt.com/</a:t>
            </a:r>
            <a:r>
              <a:rPr lang="en-US" sz="2400" b="1" dirty="0">
                <a:solidFill>
                  <a:schemeClr val="tx2"/>
                </a:solidFill>
              </a:rPr>
              <a:t> </a:t>
            </a:r>
          </a:p>
          <a:p>
            <a:r>
              <a:rPr lang="en-US" sz="2400" b="1" dirty="0">
                <a:solidFill>
                  <a:schemeClr val="tx2"/>
                </a:solidFill>
              </a:rPr>
              <a:t>● Anthropic. (n.d.). </a:t>
            </a:r>
            <a:r>
              <a:rPr lang="en-US" sz="2400" b="1" i="1" dirty="0">
                <a:solidFill>
                  <a:schemeClr val="tx2"/>
                </a:solidFill>
              </a:rPr>
              <a:t>Claude</a:t>
            </a:r>
            <a:r>
              <a:rPr lang="en-US" sz="2400" b="1" dirty="0">
                <a:solidFill>
                  <a:schemeClr val="tx2"/>
                </a:solidFill>
              </a:rPr>
              <a:t>. </a:t>
            </a:r>
            <a:r>
              <a:rPr lang="en-US" sz="2400" b="1" u="sng" dirty="0">
                <a:solidFill>
                  <a:schemeClr val="tx2"/>
                </a:solidFill>
              </a:rPr>
              <a:t>https://claude.ai/</a:t>
            </a:r>
            <a:r>
              <a:rPr lang="en-US" sz="2400" b="1" dirty="0">
                <a:solidFill>
                  <a:schemeClr val="tx2"/>
                </a:solidFill>
              </a:rPr>
              <a:t> </a:t>
            </a:r>
          </a:p>
          <a:p>
            <a:br>
              <a:rPr lang="en-US" sz="2400" b="1" dirty="0">
                <a:solidFill>
                  <a:schemeClr val="tx2"/>
                </a:solidFill>
              </a:rPr>
            </a:br>
            <a:endParaRPr lang="en-US" sz="2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59537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76</TotalTime>
  <Words>465</Words>
  <Application>Microsoft Office PowerPoint</Application>
  <PresentationFormat>On-screen Show (4:3)</PresentationFormat>
  <Paragraphs>80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3</vt:lpstr>
      <vt:lpstr>Ion</vt:lpstr>
      <vt:lpstr>2D Animated Journey </vt:lpstr>
      <vt:lpstr>Introduction</vt:lpstr>
      <vt:lpstr>Literature Review</vt:lpstr>
      <vt:lpstr>Methodology</vt:lpstr>
      <vt:lpstr>PowerPoint Presentation</vt:lpstr>
      <vt:lpstr>Implementation</vt:lpstr>
      <vt:lpstr>PowerPoint Presentation</vt:lpstr>
      <vt:lpstr>Result</vt:lpstr>
      <vt:lpstr>PowerPoint Presentation</vt:lpstr>
      <vt:lpstr>Analysis</vt:lpstr>
      <vt:lpstr>PowerPoint Presentation</vt:lpstr>
      <vt:lpstr>Challenges Faced</vt:lpstr>
      <vt:lpstr>Conclusion &amp; Future Work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Mehraj Alam</cp:lastModifiedBy>
  <cp:revision>2</cp:revision>
  <dcterms:created xsi:type="dcterms:W3CDTF">2013-01-27T09:14:16Z</dcterms:created>
  <dcterms:modified xsi:type="dcterms:W3CDTF">2025-08-16T19:08:59Z</dcterms:modified>
  <cp:category/>
</cp:coreProperties>
</file>